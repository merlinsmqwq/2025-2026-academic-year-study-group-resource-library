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1" r:id="rId9"/>
    <p:sldId id="262" r:id="rId10"/>
    <p:sldId id="265" r:id="rId11"/>
    <p:sldId id="263" r:id="rId12"/>
    <p:sldId id="264" r:id="rId13"/>
    <p:sldId id="270" r:id="rId14"/>
    <p:sldId id="268" r:id="rId15"/>
    <p:sldId id="269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A7BBCF-6453-C1CE-6447-DC598F96C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FD6291-18C8-0FF0-993D-A843F53AC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752415-DFAB-DABE-CD7B-D65A23AF6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F7D3E-CC98-4D68-A52D-4169721184BB}" type="datetimeFigureOut">
              <a:rPr lang="zh-CN" altLang="en-US" smtClean="0"/>
              <a:t>2025-11-01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F8C938-923B-8594-90BC-1C221EDF8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A560A8-960C-C8E8-A610-A142919E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83BB-9EB4-4C39-BC86-DE2FF4DC3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320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3E05B5-04E9-A458-91B5-134E6FA3D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8FE1ED-5C2A-066F-E560-B8ADC98FB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E0F018-83DD-C822-C236-D9E9FA6D7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F7D3E-CC98-4D68-A52D-4169721184BB}" type="datetimeFigureOut">
              <a:rPr lang="zh-CN" altLang="en-US" smtClean="0"/>
              <a:t>2025-11-01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5EEE10-0EE2-C631-2B22-6F958DE9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AB9D55-AB7E-749E-CA65-224B00D3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83BB-9EB4-4C39-BC86-DE2FF4DC3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910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8450CD-9049-72AD-E159-921484F41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762BFB-B6DB-69B9-7195-73E464DC5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008B4C-716B-3CD2-3317-965A17846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F7D3E-CC98-4D68-A52D-4169721184BB}" type="datetimeFigureOut">
              <a:rPr lang="zh-CN" altLang="en-US" smtClean="0"/>
              <a:t>2025-11-01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A88361-9960-2D62-5A14-CD2D9DD67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C44287-21DB-B57D-7280-41AC63562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83BB-9EB4-4C39-BC86-DE2FF4DC3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840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28AC5D-BBEA-7F7B-3FF8-B3EC06074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384568-7E6F-166C-6613-5F15C5136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C24041-9EF8-E066-3155-E81EF6B28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56077D-0988-827D-3951-B4AE6153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F7D3E-CC98-4D68-A52D-4169721184BB}" type="datetimeFigureOut">
              <a:rPr lang="zh-CN" altLang="en-US" smtClean="0"/>
              <a:t>2025-11-01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7D35CF-E30B-36BA-BE8C-6B9399188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46B11A-4ED9-C6E4-0D14-C81690A59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83BB-9EB4-4C39-BC86-DE2FF4DC3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989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76EDEE-71C2-7DCC-80D9-A4C9E4734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5607CF-91A5-F02F-FB35-69365F2CE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CB96B0-380D-C23A-47D1-350E9A890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FB61B85-E8A6-AD9C-987F-283AC353F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9CC778-6975-72B6-E44A-D617487A7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AC67F0C-4DF3-8978-0722-A3F04D1BA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F7D3E-CC98-4D68-A52D-4169721184BB}" type="datetimeFigureOut">
              <a:rPr lang="zh-CN" altLang="en-US" smtClean="0"/>
              <a:t>2025-11-01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85F377F-8618-AF74-5016-09B7077DF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BF3848E-B7FC-F26C-8684-0A024B139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83BB-9EB4-4C39-BC86-DE2FF4DC3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313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8699E0-87A1-422C-266F-0E4146F9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0071B3-C5D7-328C-05B3-E4C411ED9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F7D3E-CC98-4D68-A52D-4169721184BB}" type="datetimeFigureOut">
              <a:rPr lang="zh-CN" altLang="en-US" smtClean="0"/>
              <a:t>2025-11-01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1B0336-1F48-F543-BF83-D65D780CA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E3E46C-A9F1-FEF1-698A-8801775E1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83BB-9EB4-4C39-BC86-DE2FF4DC3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349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2C53258-2C41-B779-7A0A-214BD6A7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F7D3E-CC98-4D68-A52D-4169721184BB}" type="datetimeFigureOut">
              <a:rPr lang="zh-CN" altLang="en-US" smtClean="0"/>
              <a:t>2025-11-01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3554B9-FCC1-EFC6-4388-BE93FFF0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DB1668-16D8-05F1-0B38-D676ABF1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83BB-9EB4-4C39-BC86-DE2FF4DC3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330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9E19A0-0914-D0BD-3760-FE69D6F46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6FEA55-D1AE-5C76-3EF7-D8B79B002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F12AF9-2B80-D1FC-719A-2F8F41E84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3ACCF5-B0FA-6CDF-B1A0-9136F289C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F7D3E-CC98-4D68-A52D-4169721184BB}" type="datetimeFigureOut">
              <a:rPr lang="zh-CN" altLang="en-US" smtClean="0"/>
              <a:t>2025-11-01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028050-4349-0509-C723-73ECB9EF2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A5DB0D-232B-9936-456C-AF033BF54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83BB-9EB4-4C39-BC86-DE2FF4DC3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1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8A3CF7-49C8-64F1-2CDB-3F1FCBCBF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7CD0532-EA9F-78C6-E2F3-94718799BE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D4B054-58C9-45F7-3430-76817DD29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A4A6D5-8ABC-F114-99B0-99FAF3861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F7D3E-CC98-4D68-A52D-4169721184BB}" type="datetimeFigureOut">
              <a:rPr lang="zh-CN" altLang="en-US" smtClean="0"/>
              <a:t>2025-11-01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4FC8A6-B4A5-340C-3437-D6E151A0E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C90AA1-CB04-69A8-C730-11F29AAFC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83BB-9EB4-4C39-BC86-DE2FF4DC3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34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411281-1A6B-7E59-7F0C-BE67B127B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F70FB1-A3D7-A57E-A5E0-715CE834F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587D52-9168-4452-FAEB-1B9025194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F7D3E-CC98-4D68-A52D-4169721184BB}" type="datetimeFigureOut">
              <a:rPr lang="zh-CN" altLang="en-US" smtClean="0"/>
              <a:t>2025-11-01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8FEBD4-3505-119E-EF51-299EF7419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B1487D-241B-C086-C122-3EDF22239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83BB-9EB4-4C39-BC86-DE2FF4DC3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546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A06018-2676-9EAD-80D6-3D6824A70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5EFDE0-0232-6133-EC38-68721D281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5BD379-2E31-29C6-E462-8C8619AC6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F7D3E-CC98-4D68-A52D-4169721184BB}" type="datetimeFigureOut">
              <a:rPr lang="zh-CN" altLang="en-US" smtClean="0"/>
              <a:t>2025-11-01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5471CE-9E7E-16CA-A866-F78ADB9FC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E997E3-820B-1645-7E74-6095B3FA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83BB-9EB4-4C39-BC86-DE2FF4DC3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265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EEC968F-E938-2A26-0A03-585029527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70D122-5F7B-735B-8C24-0B00F0DB6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9A02D8-FD7A-A351-BDCE-9E7A34B72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F7D3E-CC98-4D68-A52D-4169721184BB}" type="datetimeFigureOut">
              <a:rPr lang="zh-CN" altLang="en-US" smtClean="0"/>
              <a:t>2025-11-01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BC1475-6555-4B45-9C1D-8B841977A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7E4502-5787-6362-47CD-46909FDF2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383BB-9EB4-4C39-BC86-DE2FF4DC3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21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CBB3F-4B0F-2F0B-33D5-425E951C24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模型及相关实例</a:t>
            </a:r>
          </a:p>
        </p:txBody>
      </p:sp>
    </p:spTree>
    <p:extLst>
      <p:ext uri="{BB962C8B-B14F-4D97-AF65-F5344CB8AC3E}">
        <p14:creationId xmlns:p14="http://schemas.microsoft.com/office/powerpoint/2010/main" val="4214718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FA65E1-69FD-497D-A7FB-EA8EC8E4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626140-2CFE-8115-1F24-C7191598E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传统模型存在问题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：（基于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RNN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LSTM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GRU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	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“串行依赖”导致效率低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	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“长距离依赖”捕捉能力弱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针对上述问题提出了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Transformer: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Transformer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本质是一种能高效处理序列数据的深度学习模型，它能捕捉序列中元素的关联关系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用“自注意力机制”替代串行计算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用“多头注意力”强化长距离关联（所谓“多头”就是从多个角度，如语义、语法、位置等来捕捉序列元素的关联）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8919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38030CC-75BC-4577-015B-64DA20CD1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259787" cy="5900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D856ED7-8642-1E06-B6FD-D978134A3678}"/>
              </a:ext>
            </a:extLst>
          </p:cNvPr>
          <p:cNvSpPr txBox="1"/>
          <p:nvPr/>
        </p:nvSpPr>
        <p:spPr>
          <a:xfrm>
            <a:off x="1117600" y="6077631"/>
            <a:ext cx="2437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模型架构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BD6F7C-265D-73A6-14F6-08DC29A6D465}"/>
              </a:ext>
            </a:extLst>
          </p:cNvPr>
          <p:cNvSpPr txBox="1"/>
          <p:nvPr/>
        </p:nvSpPr>
        <p:spPr>
          <a:xfrm>
            <a:off x="7336972" y="1219201"/>
            <a:ext cx="1657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ED7C7DF-B81E-834F-EE25-55A5D194B5C4}"/>
              </a:ext>
            </a:extLst>
          </p:cNvPr>
          <p:cNvCxnSpPr/>
          <p:nvPr/>
        </p:nvCxnSpPr>
        <p:spPr>
          <a:xfrm flipH="1">
            <a:off x="6284686" y="1698172"/>
            <a:ext cx="1429657" cy="863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FBEDD3-6247-B485-E696-255F54557004}"/>
              </a:ext>
            </a:extLst>
          </p:cNvPr>
          <p:cNvCxnSpPr>
            <a:cxnSpLocks/>
          </p:cNvCxnSpPr>
          <p:nvPr/>
        </p:nvCxnSpPr>
        <p:spPr>
          <a:xfrm rot="14760000" flipH="1">
            <a:off x="8498115" y="1698172"/>
            <a:ext cx="1429657" cy="863600"/>
          </a:xfrm>
          <a:prstGeom prst="line">
            <a:avLst/>
          </a:prstGeom>
          <a:ln w="25400">
            <a:solidFill>
              <a:schemeClr val="tx1">
                <a:alpha val="9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ABA574FA-029A-AAAC-46AE-FE9E622B600E}"/>
              </a:ext>
            </a:extLst>
          </p:cNvPr>
          <p:cNvSpPr txBox="1"/>
          <p:nvPr/>
        </p:nvSpPr>
        <p:spPr>
          <a:xfrm>
            <a:off x="5723382" y="2580696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Encoder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9102705-3C94-87A8-6D04-7C642E030C24}"/>
              </a:ext>
            </a:extLst>
          </p:cNvPr>
          <p:cNvSpPr txBox="1"/>
          <p:nvPr/>
        </p:nvSpPr>
        <p:spPr>
          <a:xfrm>
            <a:off x="9436596" y="2589298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Decoder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2883A75-8D11-E162-7642-691DE3404BD4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6265357" y="2950028"/>
            <a:ext cx="1" cy="1054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09D8F04-99E1-E16E-F863-B47BF6FE2385}"/>
              </a:ext>
            </a:extLst>
          </p:cNvPr>
          <p:cNvSpPr txBox="1"/>
          <p:nvPr/>
        </p:nvSpPr>
        <p:spPr>
          <a:xfrm>
            <a:off x="4969225" y="4122057"/>
            <a:ext cx="2849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理解输入序列（将输入信息转化为包含语义、语法信息的向量表示）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668F56D-642C-D128-B971-B63CAC4EBCC6}"/>
              </a:ext>
            </a:extLst>
          </p:cNvPr>
          <p:cNvCxnSpPr>
            <a:cxnSpLocks/>
          </p:cNvCxnSpPr>
          <p:nvPr/>
        </p:nvCxnSpPr>
        <p:spPr>
          <a:xfrm flipH="1">
            <a:off x="10014857" y="2958630"/>
            <a:ext cx="1" cy="1054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63B2B140-567D-2341-2B77-F92D39BAD75E}"/>
              </a:ext>
            </a:extLst>
          </p:cNvPr>
          <p:cNvSpPr txBox="1"/>
          <p:nvPr/>
        </p:nvSpPr>
        <p:spPr>
          <a:xfrm>
            <a:off x="8699397" y="4122057"/>
            <a:ext cx="2849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生成输出序列（基于语义向量，依赖自身前缀与掩码机制逐步生成对应的序列）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005416-CB9C-E059-1450-B323EBF3A9CF}"/>
              </a:ext>
            </a:extLst>
          </p:cNvPr>
          <p:cNvSpPr txBox="1"/>
          <p:nvPr/>
        </p:nvSpPr>
        <p:spPr>
          <a:xfrm>
            <a:off x="7380798" y="2391160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自注意力机制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位置编码</a:t>
            </a:r>
          </a:p>
        </p:txBody>
      </p: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87C25B04-CA89-CF1F-DC0F-FDE184C007A8}"/>
              </a:ext>
            </a:extLst>
          </p:cNvPr>
          <p:cNvCxnSpPr>
            <a:stCxn id="23" idx="2"/>
          </p:cNvCxnSpPr>
          <p:nvPr/>
        </p:nvCxnSpPr>
        <p:spPr>
          <a:xfrm rot="5400000" flipH="1">
            <a:off x="7403440" y="2275304"/>
            <a:ext cx="78861" cy="1445514"/>
          </a:xfrm>
          <a:prstGeom prst="curvedConnector4">
            <a:avLst>
              <a:gd name="adj1" fmla="val -289877"/>
              <a:gd name="adj2" fmla="val 9973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93665B38-D856-4C80-16CF-34B5BE40A44B}"/>
              </a:ext>
            </a:extLst>
          </p:cNvPr>
          <p:cNvCxnSpPr>
            <a:stCxn id="23" idx="2"/>
          </p:cNvCxnSpPr>
          <p:nvPr/>
        </p:nvCxnSpPr>
        <p:spPr>
          <a:xfrm rot="5400000" flipH="1" flipV="1">
            <a:off x="8863709" y="2251947"/>
            <a:ext cx="87463" cy="1483626"/>
          </a:xfrm>
          <a:prstGeom prst="curvedConnector4">
            <a:avLst>
              <a:gd name="adj1" fmla="val -261368"/>
              <a:gd name="adj2" fmla="val 999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9A359EDD-CC26-EE13-4B16-377BBC31B77C}"/>
              </a:ext>
            </a:extLst>
          </p:cNvPr>
          <p:cNvSpPr txBox="1"/>
          <p:nvPr/>
        </p:nvSpPr>
        <p:spPr>
          <a:xfrm>
            <a:off x="7083280" y="3237546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支撑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3901A20-EF21-9009-A01B-3AF9954F0D94}"/>
              </a:ext>
            </a:extLst>
          </p:cNvPr>
          <p:cNvSpPr txBox="1"/>
          <p:nvPr/>
        </p:nvSpPr>
        <p:spPr>
          <a:xfrm>
            <a:off x="8664771" y="32597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支撑</a:t>
            </a:r>
          </a:p>
        </p:txBody>
      </p:sp>
    </p:spTree>
    <p:extLst>
      <p:ext uri="{BB962C8B-B14F-4D97-AF65-F5344CB8AC3E}">
        <p14:creationId xmlns:p14="http://schemas.microsoft.com/office/powerpoint/2010/main" val="874427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AA61BB3-023B-D7F5-D608-5C112A74D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7842"/>
            <a:ext cx="12192000" cy="524015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45862BC-8B08-14EB-D9A6-3747991B7274}"/>
              </a:ext>
            </a:extLst>
          </p:cNvPr>
          <p:cNvSpPr txBox="1"/>
          <p:nvPr/>
        </p:nvSpPr>
        <p:spPr>
          <a:xfrm>
            <a:off x="377372" y="428171"/>
            <a:ext cx="3376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编码器（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Encoder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229117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E6C9CEDC-3759-91B3-F4AE-9A635D9AF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0472" y="0"/>
            <a:ext cx="3371528" cy="4669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D3ABA52-73FF-633F-D761-D435567E4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691563" cy="599248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C9FEB68-0648-72DC-7848-BE463ADE1170}"/>
              </a:ext>
            </a:extLst>
          </p:cNvPr>
          <p:cNvSpPr/>
          <p:nvPr/>
        </p:nvSpPr>
        <p:spPr>
          <a:xfrm>
            <a:off x="9247517" y="1581509"/>
            <a:ext cx="1305465" cy="184749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578A508A-0838-B3AE-A601-52C2D14F1E57}"/>
              </a:ext>
            </a:extLst>
          </p:cNvPr>
          <p:cNvSpPr/>
          <p:nvPr/>
        </p:nvSpPr>
        <p:spPr>
          <a:xfrm rot="7261993">
            <a:off x="8481759" y="1349741"/>
            <a:ext cx="419608" cy="1075085"/>
          </a:xfrm>
          <a:prstGeom prst="downArrow">
            <a:avLst>
              <a:gd name="adj1" fmla="val 40361"/>
              <a:gd name="adj2" fmla="val 105548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13F81E3-93B7-C498-CA64-4A5103ECDB6C}"/>
              </a:ext>
            </a:extLst>
          </p:cNvPr>
          <p:cNvSpPr txBox="1"/>
          <p:nvPr/>
        </p:nvSpPr>
        <p:spPr>
          <a:xfrm>
            <a:off x="5044411" y="-23765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实现对输入序列的深度特征提取</a:t>
            </a:r>
          </a:p>
        </p:txBody>
      </p:sp>
    </p:spTree>
    <p:extLst>
      <p:ext uri="{BB962C8B-B14F-4D97-AF65-F5344CB8AC3E}">
        <p14:creationId xmlns:p14="http://schemas.microsoft.com/office/powerpoint/2010/main" val="373546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C3AA94D-088E-F795-D3F0-E1B77E600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9062"/>
            <a:ext cx="12192000" cy="540628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C8BE59-1304-4B04-5F4B-EA7FE394A71E}"/>
              </a:ext>
            </a:extLst>
          </p:cNvPr>
          <p:cNvSpPr txBox="1"/>
          <p:nvPr/>
        </p:nvSpPr>
        <p:spPr>
          <a:xfrm>
            <a:off x="384629" y="428170"/>
            <a:ext cx="3435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解码器（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27713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B2563CFC-0595-9D37-01B0-EF99CA594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15" y="0"/>
            <a:ext cx="3015548" cy="417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EF4B6EB-C074-EAF7-7DF4-071A2ABD16D0}"/>
              </a:ext>
            </a:extLst>
          </p:cNvPr>
          <p:cNvSpPr/>
          <p:nvPr/>
        </p:nvSpPr>
        <p:spPr>
          <a:xfrm>
            <a:off x="1460741" y="902898"/>
            <a:ext cx="1196196" cy="214510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FE33859-0391-E05A-0596-66983B888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271" y="-1"/>
            <a:ext cx="9011729" cy="5055361"/>
          </a:xfrm>
          <a:prstGeom prst="rect">
            <a:avLst/>
          </a:prstGeom>
        </p:spPr>
      </p:pic>
      <p:sp>
        <p:nvSpPr>
          <p:cNvPr id="8" name="箭头: 下 7">
            <a:extLst>
              <a:ext uri="{FF2B5EF4-FFF2-40B4-BE49-F238E27FC236}">
                <a16:creationId xmlns:a16="http://schemas.microsoft.com/office/drawing/2014/main" id="{A3CA133E-7147-4CB9-0EAF-A5083E783FF7}"/>
              </a:ext>
            </a:extLst>
          </p:cNvPr>
          <p:cNvSpPr/>
          <p:nvPr/>
        </p:nvSpPr>
        <p:spPr>
          <a:xfrm rot="15001711">
            <a:off x="2951776" y="929402"/>
            <a:ext cx="311900" cy="809387"/>
          </a:xfrm>
          <a:prstGeom prst="downArrow">
            <a:avLst>
              <a:gd name="adj1" fmla="val 40361"/>
              <a:gd name="adj2" fmla="val 105548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7415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2F73A06-FC69-2E7B-799B-311E82101D7C}"/>
              </a:ext>
            </a:extLst>
          </p:cNvPr>
          <p:cNvSpPr txBox="1"/>
          <p:nvPr/>
        </p:nvSpPr>
        <p:spPr>
          <a:xfrm>
            <a:off x="598394" y="329454"/>
            <a:ext cx="2892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Self-Attention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</a:p>
        </p:txBody>
      </p:sp>
      <p:pic>
        <p:nvPicPr>
          <p:cNvPr id="2050" name="Picture 2" descr="Scaled Dot-Product Attention">
            <a:extLst>
              <a:ext uri="{FF2B5EF4-FFF2-40B4-BE49-F238E27FC236}">
                <a16:creationId xmlns:a16="http://schemas.microsoft.com/office/drawing/2014/main" id="{A13562BD-6885-8106-C77B-3BF89E624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405649"/>
            <a:ext cx="3770973" cy="444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085F736-C2CB-A2A8-97C2-7A2578DB2369}"/>
              </a:ext>
            </a:extLst>
          </p:cNvPr>
          <p:cNvSpPr txBox="1"/>
          <p:nvPr/>
        </p:nvSpPr>
        <p:spPr>
          <a:xfrm>
            <a:off x="114300" y="5961081"/>
            <a:ext cx="3562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Scaled Dot-Product Attention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（缩放点积注意力）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5E077CF-9E13-4884-D816-6609DE509602}"/>
                  </a:ext>
                </a:extLst>
              </p:cNvPr>
              <p:cNvSpPr txBox="1"/>
              <p:nvPr/>
            </p:nvSpPr>
            <p:spPr>
              <a:xfrm>
                <a:off x="5215787" y="203255"/>
                <a:ext cx="6526328" cy="22836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计算步骤如下：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1.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Q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之间的点积，通常除以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来防止其结果过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大，</a:t>
                </a:r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𝑑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向量的维度；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2.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利用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softmax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将结果归一化为概率分布，再乘以矩阵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</a:p>
              <a:p>
                <a:pPr>
                  <a:lnSpc>
                    <a:spcPct val="125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得到权重求和的表示。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5000"/>
                  </a:lnSpc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计算过程如下：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5E077CF-9E13-4884-D816-6609DE509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787" y="203255"/>
                <a:ext cx="6526328" cy="2283638"/>
              </a:xfrm>
              <a:prstGeom prst="rect">
                <a:avLst/>
              </a:prstGeom>
              <a:blipFill>
                <a:blip r:embed="rId3"/>
                <a:stretch>
                  <a:fillRect l="-561" b="-24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438B53AC-92B8-B927-07EE-3861946B4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226" y="2163040"/>
            <a:ext cx="4362482" cy="6477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C73353F-A794-C714-3EAF-9777942878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664" y="2888132"/>
            <a:ext cx="8296336" cy="265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003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30C05A3-6849-2894-4552-4A60D0AF46CB}"/>
              </a:ext>
            </a:extLst>
          </p:cNvPr>
          <p:cNvSpPr txBox="1"/>
          <p:nvPr/>
        </p:nvSpPr>
        <p:spPr>
          <a:xfrm>
            <a:off x="598394" y="329454"/>
            <a:ext cx="3911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Multi-head Attention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EFCF65-C81E-1057-7865-C4BC2F27AFD0}"/>
              </a:ext>
            </a:extLst>
          </p:cNvPr>
          <p:cNvSpPr txBox="1"/>
          <p:nvPr/>
        </p:nvSpPr>
        <p:spPr>
          <a:xfrm>
            <a:off x="5135274" y="1600200"/>
            <a:ext cx="6526328" cy="3904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个不同的线性变换对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进行映射；将不同的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拼接起来：最后，再进行一次线性变换。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即：该模型可以在不同子表示空间中关注不同的位置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本质是在参数总量保持不变的情况下，将同样的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映射到原来的高维空间的不同子空间中进行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计算，在最后一步合并不同子空间的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这样可以寻找到序列之间不同角度的关联关系，并在最后的拼接过程中，将不同子空间捕获到的关联关系再综合起来。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DC50C08C-0A24-1E2A-7CF9-55880234A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1280010"/>
            <a:ext cx="3600450" cy="4574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929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5983EA6-4497-DFD0-2681-0D918D806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89160" cy="6858000"/>
          </a:xfrm>
          <a:prstGeom prst="rect">
            <a:avLst/>
          </a:prstGeom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40663D91-D4F6-9CB9-2E92-872AFEE6E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9800" y="3727525"/>
            <a:ext cx="2463800" cy="313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连接符: 曲线 5">
            <a:extLst>
              <a:ext uri="{FF2B5EF4-FFF2-40B4-BE49-F238E27FC236}">
                <a16:creationId xmlns:a16="http://schemas.microsoft.com/office/drawing/2014/main" id="{854D3C41-E085-6F47-B511-65164B866D4B}"/>
              </a:ext>
            </a:extLst>
          </p:cNvPr>
          <p:cNvCxnSpPr>
            <a:cxnSpLocks/>
          </p:cNvCxnSpPr>
          <p:nvPr/>
        </p:nvCxnSpPr>
        <p:spPr>
          <a:xfrm>
            <a:off x="7125419" y="4479985"/>
            <a:ext cx="1627517" cy="1426234"/>
          </a:xfrm>
          <a:prstGeom prst="curvedConnector3">
            <a:avLst>
              <a:gd name="adj1" fmla="val 60601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曲线 26">
            <a:extLst>
              <a:ext uri="{FF2B5EF4-FFF2-40B4-BE49-F238E27FC236}">
                <a16:creationId xmlns:a16="http://schemas.microsoft.com/office/drawing/2014/main" id="{35AB6989-95F3-CD8A-1DA6-B9A76477DCEE}"/>
              </a:ext>
            </a:extLst>
          </p:cNvPr>
          <p:cNvCxnSpPr>
            <a:cxnSpLocks/>
          </p:cNvCxnSpPr>
          <p:nvPr/>
        </p:nvCxnSpPr>
        <p:spPr>
          <a:xfrm>
            <a:off x="7336173" y="5386558"/>
            <a:ext cx="1350627" cy="12700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曲线 34">
            <a:extLst>
              <a:ext uri="{FF2B5EF4-FFF2-40B4-BE49-F238E27FC236}">
                <a16:creationId xmlns:a16="http://schemas.microsoft.com/office/drawing/2014/main" id="{068DC9F0-4CD5-B12A-26D8-C49F14CA1AA9}"/>
              </a:ext>
            </a:extLst>
          </p:cNvPr>
          <p:cNvCxnSpPr>
            <a:cxnSpLocks/>
          </p:cNvCxnSpPr>
          <p:nvPr/>
        </p:nvCxnSpPr>
        <p:spPr>
          <a:xfrm flipV="1">
            <a:off x="6872068" y="4705643"/>
            <a:ext cx="2384474" cy="1259059"/>
          </a:xfrm>
          <a:prstGeom prst="curvedConnector3">
            <a:avLst>
              <a:gd name="adj1" fmla="val 54425"/>
            </a:avLst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曲线 37">
            <a:extLst>
              <a:ext uri="{FF2B5EF4-FFF2-40B4-BE49-F238E27FC236}">
                <a16:creationId xmlns:a16="http://schemas.microsoft.com/office/drawing/2014/main" id="{E3B8702F-8C13-FB0D-6F84-CE90585376EB}"/>
              </a:ext>
            </a:extLst>
          </p:cNvPr>
          <p:cNvCxnSpPr>
            <a:cxnSpLocks/>
          </p:cNvCxnSpPr>
          <p:nvPr/>
        </p:nvCxnSpPr>
        <p:spPr>
          <a:xfrm flipV="1">
            <a:off x="2363372" y="4283612"/>
            <a:ext cx="6893170" cy="2321170"/>
          </a:xfrm>
          <a:prstGeom prst="curvedConnector3">
            <a:avLst>
              <a:gd name="adj1" fmla="val 86938"/>
            </a:avLst>
          </a:prstGeom>
          <a:ln w="127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299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8918DBC-4912-72EB-3FB8-82D65DDA9F31}"/>
              </a:ext>
            </a:extLst>
          </p:cNvPr>
          <p:cNvSpPr txBox="1"/>
          <p:nvPr/>
        </p:nvSpPr>
        <p:spPr>
          <a:xfrm>
            <a:off x="598394" y="32945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位置编码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C18D2B-757C-B90D-A600-C49A92D003C9}"/>
              </a:ext>
            </a:extLst>
          </p:cNvPr>
          <p:cNvSpPr txBox="1"/>
          <p:nvPr/>
        </p:nvSpPr>
        <p:spPr>
          <a:xfrm>
            <a:off x="1126866" y="1105619"/>
            <a:ext cx="8856772" cy="1980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原因：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自注意力机制本身是并行计算，不包含词的位置信息。因此需要通过位置编码来为每个词添加位置信息，从而让模型能够判断元素的顺序，理解顺序依赖的语义。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数学公式如下：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ABD862A-0364-A156-222A-EE742FBB9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857" y="2762245"/>
            <a:ext cx="3295674" cy="133351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F8FB0F2-8391-9753-D80B-35100249FEC8}"/>
              </a:ext>
            </a:extLst>
          </p:cNvPr>
          <p:cNvSpPr txBox="1"/>
          <p:nvPr/>
        </p:nvSpPr>
        <p:spPr>
          <a:xfrm>
            <a:off x="1126866" y="4095755"/>
            <a:ext cx="8856772" cy="1596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位置编码表示顺序的特点：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1.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不同位置有独特编码：每个位置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对应的正弦余弦值组合是唯一的。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2.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位置差具有一致性：有三角函数的周期性，对于任意两个位置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pos+k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，它们的位置编码差是固定的，使模型能够学习相对位置。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9442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DBA62E1-478E-8446-E1DE-7B151ADA7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143" cy="6193766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03EE3BB-D35B-E279-9919-3CC64305F5CA}"/>
              </a:ext>
            </a:extLst>
          </p:cNvPr>
          <p:cNvCxnSpPr/>
          <p:nvPr/>
        </p:nvCxnSpPr>
        <p:spPr>
          <a:xfrm flipV="1">
            <a:off x="4986068" y="1759789"/>
            <a:ext cx="971909" cy="391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D1E82D1D-0929-A6FD-90C0-68A5033E2975}"/>
              </a:ext>
            </a:extLst>
          </p:cNvPr>
          <p:cNvSpPr txBox="1"/>
          <p:nvPr/>
        </p:nvSpPr>
        <p:spPr>
          <a:xfrm>
            <a:off x="5966016" y="1621289"/>
            <a:ext cx="31085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初始化位置编码矩阵，存储每个位置的编码</a:t>
            </a:r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97249EF2-6B65-48C0-B892-8BE76D89A043}"/>
              </a:ext>
            </a:extLst>
          </p:cNvPr>
          <p:cNvSpPr/>
          <p:nvPr/>
        </p:nvSpPr>
        <p:spPr>
          <a:xfrm rot="8301628">
            <a:off x="8877676" y="2077675"/>
            <a:ext cx="255861" cy="511357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0715EF-2F7F-803B-B259-46107751FF2D}"/>
              </a:ext>
            </a:extLst>
          </p:cNvPr>
          <p:cNvSpPr txBox="1"/>
          <p:nvPr/>
        </p:nvSpPr>
        <p:spPr>
          <a:xfrm>
            <a:off x="9061792" y="1898288"/>
            <a:ext cx="3050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</a:t>
            </a:r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生成位置索引，增加张量维度，方便后续</a:t>
            </a:r>
            <a:endParaRPr lang="en-US" altLang="zh-CN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position</a:t>
            </a:r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sz="12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div_term</a:t>
            </a:r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的计算</a:t>
            </a:r>
            <a:endParaRPr lang="en-US" altLang="zh-CN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2.</a:t>
            </a:r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使用指数函数来避免计算数值过大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D27908E-6FEF-1EF9-5714-3FD713E789BF}"/>
              </a:ext>
            </a:extLst>
          </p:cNvPr>
          <p:cNvSpPr txBox="1"/>
          <p:nvPr/>
        </p:nvSpPr>
        <p:spPr>
          <a:xfrm>
            <a:off x="8144163" y="4036383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方便与输入序列相加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626ADB6-7AE7-B9EC-2303-78E4C1093130}"/>
              </a:ext>
            </a:extLst>
          </p:cNvPr>
          <p:cNvCxnSpPr>
            <a:cxnSpLocks/>
          </p:cNvCxnSpPr>
          <p:nvPr/>
        </p:nvCxnSpPr>
        <p:spPr>
          <a:xfrm>
            <a:off x="3573194" y="5939697"/>
            <a:ext cx="1076178" cy="1797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75260058-80D4-6BA4-7B9E-0ECAAA63042C}"/>
              </a:ext>
            </a:extLst>
          </p:cNvPr>
          <p:cNvSpPr txBox="1"/>
          <p:nvPr/>
        </p:nvSpPr>
        <p:spPr>
          <a:xfrm>
            <a:off x="4649372" y="5980946"/>
            <a:ext cx="2339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随机屏蔽部分特征，防止过拟合</a:t>
            </a:r>
          </a:p>
        </p:txBody>
      </p:sp>
    </p:spTree>
    <p:extLst>
      <p:ext uri="{BB962C8B-B14F-4D97-AF65-F5344CB8AC3E}">
        <p14:creationId xmlns:p14="http://schemas.microsoft.com/office/powerpoint/2010/main" val="1924335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749625C-631B-7C87-F451-62FB0EB2AADA}"/>
              </a:ext>
            </a:extLst>
          </p:cNvPr>
          <p:cNvSpPr txBox="1"/>
          <p:nvPr/>
        </p:nvSpPr>
        <p:spPr>
          <a:xfrm>
            <a:off x="598394" y="329454"/>
            <a:ext cx="5534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Feed-Forward Network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前馈神经网络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919CB32-5842-AC6F-6AE9-F7373D5FE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24951"/>
            <a:ext cx="3085031" cy="4272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999DBBD-B14B-D4A1-73BD-A217FBEB588F}"/>
              </a:ext>
            </a:extLst>
          </p:cNvPr>
          <p:cNvSpPr/>
          <p:nvPr/>
        </p:nvSpPr>
        <p:spPr>
          <a:xfrm>
            <a:off x="649858" y="3042249"/>
            <a:ext cx="787878" cy="34505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FF5F0D-ED7E-FCD8-2E0A-34C9D19F5129}"/>
              </a:ext>
            </a:extLst>
          </p:cNvPr>
          <p:cNvSpPr/>
          <p:nvPr/>
        </p:nvSpPr>
        <p:spPr>
          <a:xfrm>
            <a:off x="1653398" y="2372265"/>
            <a:ext cx="787878" cy="34505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EBC0D02F-BF1D-D335-E681-4B21AE46A96C}"/>
              </a:ext>
            </a:extLst>
          </p:cNvPr>
          <p:cNvSpPr/>
          <p:nvPr/>
        </p:nvSpPr>
        <p:spPr>
          <a:xfrm rot="15001711">
            <a:off x="2859760" y="1967571"/>
            <a:ext cx="311900" cy="809387"/>
          </a:xfrm>
          <a:prstGeom prst="downArrow">
            <a:avLst>
              <a:gd name="adj1" fmla="val 40361"/>
              <a:gd name="adj2" fmla="val 105548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C051E00-9BD5-104B-C1CB-C9C8058D2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331" y="1028332"/>
            <a:ext cx="8739205" cy="334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876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36B4CE4-0937-79A7-F701-4A4CE0B14002}"/>
              </a:ext>
            </a:extLst>
          </p:cNvPr>
          <p:cNvSpPr txBox="1"/>
          <p:nvPr/>
        </p:nvSpPr>
        <p:spPr>
          <a:xfrm>
            <a:off x="598394" y="329454"/>
            <a:ext cx="4286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的完整架构（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0D9F2AD-54A8-ADF2-3DB9-4BCE6AD13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91119"/>
            <a:ext cx="8505645" cy="606828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4FAAAAF-C765-AA20-ED3A-EFD6C3D2B75E}"/>
              </a:ext>
            </a:extLst>
          </p:cNvPr>
          <p:cNvSpPr txBox="1"/>
          <p:nvPr/>
        </p:nvSpPr>
        <p:spPr>
          <a:xfrm>
            <a:off x="8844951" y="2782669"/>
            <a:ext cx="2668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进行初始化，以构建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的核心组件</a:t>
            </a:r>
          </a:p>
        </p:txBody>
      </p:sp>
    </p:spTree>
    <p:extLst>
      <p:ext uri="{BB962C8B-B14F-4D97-AF65-F5344CB8AC3E}">
        <p14:creationId xmlns:p14="http://schemas.microsoft.com/office/powerpoint/2010/main" val="616307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F8C8C6D-1CC1-15A4-9018-4BF704B27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810"/>
            <a:ext cx="9928968" cy="458350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FBF0503-EF0A-2888-6BB7-FB75E09F8EDC}"/>
              </a:ext>
            </a:extLst>
          </p:cNvPr>
          <p:cNvSpPr txBox="1"/>
          <p:nvPr/>
        </p:nvSpPr>
        <p:spPr>
          <a:xfrm>
            <a:off x="604145" y="329454"/>
            <a:ext cx="4286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的完整架构（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6B1C69-5645-588E-E206-BD3AE0F2A09D}"/>
              </a:ext>
            </a:extLst>
          </p:cNvPr>
          <p:cNvSpPr txBox="1"/>
          <p:nvPr/>
        </p:nvSpPr>
        <p:spPr>
          <a:xfrm>
            <a:off x="7577068" y="2660470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解码器前向传播：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利用编码器输出和目标序列前缀，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生成目标序列的特征向量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A18BE2-2E70-409B-FE44-22AA5E8B9774}"/>
              </a:ext>
            </a:extLst>
          </p:cNvPr>
          <p:cNvSpPr txBox="1"/>
          <p:nvPr/>
        </p:nvSpPr>
        <p:spPr>
          <a:xfrm>
            <a:off x="4890318" y="3953132"/>
            <a:ext cx="61350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串联编码器和解码器，输出最终的预测结果（目标语言的词概率）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7550BC-F764-5EC5-5A27-EB4CAAECDBEC}"/>
              </a:ext>
            </a:extLst>
          </p:cNvPr>
          <p:cNvSpPr txBox="1"/>
          <p:nvPr/>
        </p:nvSpPr>
        <p:spPr>
          <a:xfrm>
            <a:off x="7577068" y="925115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编码器前向传播：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encode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将原序列转化为包含语义信息的特征向量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7CD1454-819B-2936-E8D4-616EF1904719}"/>
              </a:ext>
            </a:extLst>
          </p:cNvPr>
          <p:cNvCxnSpPr/>
          <p:nvPr/>
        </p:nvCxnSpPr>
        <p:spPr>
          <a:xfrm flipV="1">
            <a:off x="6565982" y="1217502"/>
            <a:ext cx="1011086" cy="1891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25EFC48-AE94-ED1C-6513-3A4C0890E199}"/>
              </a:ext>
            </a:extLst>
          </p:cNvPr>
          <p:cNvCxnSpPr>
            <a:cxnSpLocks/>
          </p:cNvCxnSpPr>
          <p:nvPr/>
        </p:nvCxnSpPr>
        <p:spPr>
          <a:xfrm flipV="1">
            <a:off x="6443507" y="3075968"/>
            <a:ext cx="1025076" cy="94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66EA1B6-EF5D-9B3C-6BAA-C2956BD2F418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815899" y="4122409"/>
            <a:ext cx="1074419" cy="94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171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659B8-6665-941E-FECE-6F76AE8D2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F63BC-703D-98DC-9F69-012CA7382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3AE262-1709-67C3-0EF0-CC8863D41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自然语言处理：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机器翻译：谷歌翻译、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DeepL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等主流翻译工具，基于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架构可同时捕捉源语言与目标语言的全局关联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文本生成：像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chatGPT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等大语言模型，采用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decoder-only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文本理解与分类：情感分析、文本分类，例如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encoder-only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架构，通过对文本的深度理解来实现这些任务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文本摘要（信息抽取）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计算机视觉、语音处理、多模态等：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无论是文本（词序列）、图像（像素块序列）、语音（声波帧序列），本质上都是“有序的元素序列”，得益于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的注意力机制能高效捕捉这些序列中的元素的全局关联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3244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7B8045E-B9C4-B236-6FC7-9CCE34799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6859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模型优缺点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68064A4-D9D9-B25E-A63E-8178AEAA86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3790"/>
                <a:ext cx="10515600" cy="517908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优点：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全局注意力、并行计算、模块化架构、自监督与训练      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缺点：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计算复杂度高；长序列处理能力弱；对低频信息敏感，以产生“幻觉”；无法显示建模复杂的位置依赖，如文本的句法结构、图像的空间拓扑关系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针对以上优缺点，提出了以下的改进方向：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降低复杂度：从全局注意力到稀疏注意力，只关注“关键的少数元素”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Sparse Transformer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：将注意力拆分为“局部窗口注意力”（关注相邻元素）和“随机稀疏注意力”（随即关注少量远距离元素）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Longformer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：采用“滑动窗口注意力”（每个元素关注前后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个元素）和“全局注意力”（对关键元素保留全局注意力）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优化长序列处理：引入线性注意力或分层结构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Liner Attention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逐元素乘积再求和，将复杂度降至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O(n),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并保留部分全局关联能力（先全局压缩，再局部查询）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Hierarchical Transformer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：“先看整体再看细节”，将序列分层（如文本先按段落分组，再按句子分组），每层仅处理分组后的块序列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68064A4-D9D9-B25E-A63E-8178AEAA86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3790"/>
                <a:ext cx="10515600" cy="5179085"/>
              </a:xfrm>
              <a:blipFill>
                <a:blip r:embed="rId2"/>
                <a:stretch>
                  <a:fillRect l="-406" t="-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968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62F8244-E9D7-6610-59A3-5B3C8CC48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189" y="525911"/>
            <a:ext cx="10515600" cy="5478074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减少幻觉，提升事实准确性：引入外部知识或约束机制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改进模型及方法：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Factuality-aware Training(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事实感知训练：用事实一致的标注数据训练模型；融入外部知识库；训练时加入“事实校验损失”，对生成的错误事实进行惩罚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Chain-of-Thought(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思维链：引导模型逐步推理，通过逻辑链约束生成过程，减少跳跃性错误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增强位置或结构建模：设计更为高效的位置编码，让模型更精准捕捉时序空间结构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Relative Position Encoding(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相对位置编码：更适合处理变长序列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RoPE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旋转位置编码：能显示建模位置的线性关系，支持任意长度序列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0" indent="0">
              <a:lnSpc>
                <a:spcPct val="125000"/>
              </a:lnSpc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1716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3060</TotalTime>
  <Words>1103</Words>
  <Application>Microsoft Office PowerPoint</Application>
  <PresentationFormat>宽屏</PresentationFormat>
  <Paragraphs>86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等线 Light</vt:lpstr>
      <vt:lpstr>微软雅黑</vt:lpstr>
      <vt:lpstr>微软雅黑 Light</vt:lpstr>
      <vt:lpstr>Arial</vt:lpstr>
      <vt:lpstr>Cambria Math</vt:lpstr>
      <vt:lpstr>Office 主题​​</vt:lpstr>
      <vt:lpstr>Transformer模型及相关实例</vt:lpstr>
      <vt:lpstr>一.模型概述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二.模型应用</vt:lpstr>
      <vt:lpstr>三.模型优缺点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haodi geng</dc:creator>
  <cp:lastModifiedBy>haodi geng</cp:lastModifiedBy>
  <cp:revision>17</cp:revision>
  <dcterms:created xsi:type="dcterms:W3CDTF">2025-10-20T14:23:07Z</dcterms:created>
  <dcterms:modified xsi:type="dcterms:W3CDTF">2025-11-01T09:55:05Z</dcterms:modified>
</cp:coreProperties>
</file>